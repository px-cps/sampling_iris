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36576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F2937"/>
                </a:solidFill>
              </a:rPr>
              <a:t>CertGCS at a glance — why planner outputs must be validated, and why validation is cheap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" y="512064"/>
            <a:ext cx="3200400" cy="274320"/>
          </a:xfrm>
          <a:prstGeom prst="rect">
            <a:avLst/>
          </a:prstGeom>
          <a:solidFill>
            <a:srgbClr val="F4F4F5"/>
          </a:solidFill>
          <a:ln w="9525">
            <a:solidFill>
              <a:srgbClr val="5252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/>
            <a:r>
              <a:rPr sz="1150" b="1">
                <a:solidFill>
                  <a:srgbClr val="1F2937"/>
                </a:solidFill>
              </a:rPr>
              <a:t>① Birth of the probabilistic map (offline)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841248"/>
            <a:ext cx="3200400" cy="713232"/>
          </a:xfrm>
          <a:prstGeom prst="roundRect">
            <a:avLst/>
          </a:prstGeom>
          <a:solidFill>
            <a:srgbClr val="E8F1FD"/>
          </a:solidFill>
          <a:ln w="1524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/>
            <a:r>
              <a:rPr sz="1050" b="1">
                <a:solidFill>
                  <a:srgbClr val="1F2937"/>
                </a:solidFill>
              </a:rPr>
              <a:t>IrisZo convex decomposition</a:t>
            </a:r>
          </a:p>
          <a:p>
            <a:pPr algn="l"/>
            <a:r>
              <a:rPr sz="900" b="0">
                <a:solidFill>
                  <a:srgbClr val="1F2937"/>
                </a:solidFill>
              </a:rPr>
              <a:t>point oracle + hyperplane cuts + Bernoulli (ε,δ) gate</a:t>
            </a:r>
          </a:p>
          <a:p>
            <a:pPr algn="l"/>
            <a:r>
              <a:rPr sz="900" b="0">
                <a:solidFill>
                  <a:srgbClr val="B91C1C"/>
                </a:solidFill>
              </a:rPr>
              <a:t>non-convex C-obstacles ⇒ every cut is only local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737360" y="1572768"/>
            <a:ext cx="0" cy="201168"/>
          </a:xfrm>
          <a:prstGeom prst="line">
            <a:avLst/>
          </a:prstGeom>
          <a:ln w="2032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37160" y="1792224"/>
            <a:ext cx="3200400" cy="786384"/>
          </a:xfrm>
          <a:prstGeom prst="roundRect">
            <a:avLst/>
          </a:prstGeom>
          <a:solidFill>
            <a:srgbClr val="E8F1FD"/>
          </a:solidFill>
          <a:ln w="1524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/>
            <a:r>
              <a:rPr sz="1000" b="1">
                <a:solidFill>
                  <a:srgbClr val="1F2937"/>
                </a:solidFill>
              </a:rPr>
              <a:t>Region map: 97% of the volume truly free</a:t>
            </a:r>
          </a:p>
          <a:p>
            <a:pPr algn="l"/>
            <a:r>
              <a:rPr sz="900" b="0">
                <a:solidFill>
                  <a:srgbClr val="B91C1C"/>
                </a:solidFill>
              </a:rPr>
              <a:t>+ 3.2% residual pockets — ε&gt;0 by construction</a:t>
            </a:r>
          </a:p>
          <a:p>
            <a:pPr algn="l"/>
            <a:r>
              <a:rPr sz="900" b="0">
                <a:solidFill>
                  <a:srgbClr val="1F2937"/>
                </a:solidFill>
              </a:rPr>
              <a:t>pockets live on boundary shells / door jambs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2999232" y="2231136"/>
            <a:ext cx="256032" cy="274320"/>
          </a:xfrm>
          <a:prstGeom prst="rtTriangl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20440" y="512064"/>
            <a:ext cx="8531352" cy="274320"/>
          </a:xfrm>
          <a:prstGeom prst="rect">
            <a:avLst/>
          </a:prstGeom>
          <a:solidFill>
            <a:srgbClr val="F4F4F5"/>
          </a:solidFill>
          <a:ln w="9525">
            <a:solidFill>
              <a:srgbClr val="5252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/>
            <a:r>
              <a:rPr sz="1150" b="1">
                <a:solidFill>
                  <a:srgbClr val="1F2937"/>
                </a:solidFill>
              </a:rPr>
              <a:t>② The amplification law — the optimizer is a search engine for model errors, not a sampler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841248"/>
            <a:ext cx="2532888" cy="731520"/>
          </a:xfrm>
          <a:prstGeom prst="roundRect">
            <a:avLst/>
          </a:prstGeom>
          <a:solidFill>
            <a:srgbClr val="FDECEC"/>
          </a:solidFill>
          <a:ln w="1524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  <a:r>
              <a:rPr sz="1150" b="1">
                <a:solidFill>
                  <a:srgbClr val="B91C1C"/>
                </a:solidFill>
              </a:rPr>
              <a:t>3.2%  volume error</a:t>
            </a:r>
          </a:p>
          <a:p>
            <a:pPr algn="ctr"/>
            <a:r>
              <a:rPr sz="900" b="0">
                <a:solidFill>
                  <a:srgbClr val="1F2937"/>
                </a:solidFill>
              </a:rPr>
              <a:t>uniform measure: darts into the regions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19672" y="841248"/>
            <a:ext cx="2532888" cy="731520"/>
          </a:xfrm>
          <a:prstGeom prst="roundRect">
            <a:avLst/>
          </a:prstGeom>
          <a:solidFill>
            <a:srgbClr val="F9D2D2"/>
          </a:solidFill>
          <a:ln w="1524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  <a:r>
              <a:rPr sz="1150" b="1">
                <a:solidFill>
                  <a:srgbClr val="B91C1C"/>
                </a:solidFill>
              </a:rPr>
              <a:t>12.5%  random-query answers invalid</a:t>
            </a:r>
          </a:p>
          <a:p>
            <a:pPr algn="ctr"/>
            <a:r>
              <a:rPr sz="900" b="0">
                <a:solidFill>
                  <a:srgbClr val="1F2937"/>
                </a:solidFill>
              </a:rPr>
              <a:t>2/16 benchmark optima, two machines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18904" y="841248"/>
            <a:ext cx="2532888" cy="731520"/>
          </a:xfrm>
          <a:prstGeom prst="roundRect">
            <a:avLst/>
          </a:prstGeom>
          <a:solidFill>
            <a:srgbClr val="F3B0B0"/>
          </a:solidFill>
          <a:ln w="1524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  <a:r>
              <a:rPr sz="1150" b="1">
                <a:solidFill>
                  <a:srgbClr val="B91C1C"/>
                </a:solidFill>
              </a:rPr>
              <a:t>62%  task-query answers invalid</a:t>
            </a:r>
          </a:p>
          <a:p>
            <a:pPr algn="ctr"/>
            <a:r>
              <a:rPr sz="900" b="0">
                <a:solidFill>
                  <a:srgbClr val="1F2937"/>
                </a:solidFill>
              </a:rPr>
              <a:t>18/29, deepest −91 mm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62472" y="1207008"/>
            <a:ext cx="448056" cy="0"/>
          </a:xfrm>
          <a:prstGeom prst="line">
            <a:avLst/>
          </a:prstGeom>
          <a:ln w="27940">
            <a:solidFill>
              <a:srgbClr val="B91C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061704" y="1207008"/>
            <a:ext cx="448056" cy="0"/>
          </a:xfrm>
          <a:prstGeom prst="line">
            <a:avLst/>
          </a:prstGeom>
          <a:ln w="27940">
            <a:solidFill>
              <a:srgbClr val="B91C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998464" y="896112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B91C1C"/>
                </a:solidFill>
              </a:rPr>
              <a:t>×4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896112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B91C1C"/>
                </a:solidFill>
              </a:rPr>
              <a:t>×5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40" y="1645920"/>
            <a:ext cx="2532888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/>
            <a:r>
              <a:rPr sz="950" b="1">
                <a:solidFill>
                  <a:srgbClr val="B91C1C"/>
                </a:solidFill>
              </a:rPr>
              <a:t>① Taut paths patrol the boundary</a:t>
            </a:r>
          </a:p>
          <a:p>
            <a:pPr algn="l"/>
            <a:r>
              <a:rPr sz="850" b="0">
                <a:solidFill>
                  <a:srgbClr val="1F2937"/>
                </a:solidFill>
              </a:rPr>
              <a:t>a shortest path hugs walls and cuts corners — exactly where the pockets live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19672" y="1645920"/>
            <a:ext cx="2532888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/>
            <a:r>
              <a:rPr sz="950" b="1">
                <a:solidFill>
                  <a:srgbClr val="B91C1C"/>
                </a:solidFill>
              </a:rPr>
              <a:t>② The argmin harvests model surplus</a:t>
            </a:r>
          </a:p>
          <a:p>
            <a:pPr algn="l"/>
            <a:r>
              <a:rPr sz="850" b="0">
                <a:solidFill>
                  <a:srgbClr val="1F2937"/>
                </a:solidFill>
              </a:rPr>
              <a:t>if the through-pocket shortcut is shorter, EVERY modeled optimum takes it; the exacter the solver, the surer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18904" y="1645920"/>
            <a:ext cx="2532888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/>
            <a:r>
              <a:rPr sz="950" b="1">
                <a:solidFill>
                  <a:srgbClr val="B91C1C"/>
                </a:solidFill>
              </a:rPr>
              <a:t>③ Tasks live in the dirty real estate</a:t>
            </a:r>
          </a:p>
          <a:p>
            <a:pPr algn="l"/>
            <a:r>
              <a:rPr sz="850" b="0">
                <a:solidFill>
                  <a:srgbClr val="1F2937"/>
                </a:solidFill>
              </a:rPr>
              <a:t>grasp poses hug the shelves = where the generator truncated deepest; task corridors follow them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20440" y="2359152"/>
            <a:ext cx="8531352" cy="274320"/>
          </a:xfrm>
          <a:prstGeom prst="rect">
            <a:avLst/>
          </a:prstGeom>
          <a:solidFill>
            <a:srgbClr val="F4F4F5"/>
          </a:solidFill>
          <a:ln w="1143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/>
            <a:r>
              <a:rPr sz="1000" b="1">
                <a:solidFill>
                  <a:srgbClr val="B91C1C"/>
                </a:solidFill>
              </a:rPr>
              <a:t>Measure mismatch: audits sample the uniform measure, the planner samples the argmin measure — the only aligned test is a test of the argmin itself (↓ our layer)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" y="2706624"/>
            <a:ext cx="11914632" cy="274320"/>
          </a:xfrm>
          <a:prstGeom prst="rect">
            <a:avLst/>
          </a:prstGeom>
          <a:solidFill>
            <a:srgbClr val="F4F4F5"/>
          </a:solidFill>
          <a:ln w="9525">
            <a:solidFill>
              <a:srgbClr val="5252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/>
            <a:r>
              <a:rPr sz="1150" b="1">
                <a:solidFill>
                  <a:srgbClr val="1F2937"/>
                </a:solidFill>
              </a:rPr>
              <a:t>③ The certified layer (online) — the necessary thing, done the cheap way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" y="3054096"/>
            <a:ext cx="1572768" cy="914400"/>
          </a:xfrm>
          <a:prstGeom prst="roundRect">
            <a:avLst/>
          </a:prstGeom>
          <a:solidFill>
            <a:srgbClr val="E8F1FD"/>
          </a:solidFill>
          <a:ln w="1524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/>
            <a:r>
              <a:rPr sz="950" b="1">
                <a:solidFill>
                  <a:srgbClr val="1F2937"/>
                </a:solidFill>
              </a:rPr>
              <a:t>Region map</a:t>
            </a:r>
          </a:p>
          <a:p>
            <a:pPr algn="l"/>
            <a:r>
              <a:rPr sz="800" b="0">
                <a:solidFill>
                  <a:srgbClr val="1F2937"/>
                </a:solidFill>
              </a:rPr>
              <a:t>from ① — 97% clean
= why checking is cheap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60804" y="3054096"/>
            <a:ext cx="1572768" cy="914400"/>
          </a:xfrm>
          <a:prstGeom prst="roundRect">
            <a:avLst/>
          </a:prstGeom>
          <a:solidFill>
            <a:srgbClr val="E8F1FD"/>
          </a:solidFill>
          <a:ln w="1524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/>
            <a:r>
              <a:rPr sz="950" b="1">
                <a:solidFill>
                  <a:srgbClr val="1F2937"/>
                </a:solidFill>
              </a:rPr>
              <a:t>Interface sampling
+ informed pruning</a:t>
            </a:r>
          </a:p>
          <a:p>
            <a:pPr algn="l"/>
            <a:r>
              <a:rPr sz="800" b="0">
                <a:solidFill>
                  <a:srgbClr val="1F2937"/>
                </a:solidFill>
              </a:rPr>
              <a:t>admissible LB keys; pruned-
subgraph LB stays valid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714500" y="3511296"/>
            <a:ext cx="141732" cy="0"/>
          </a:xfrm>
          <a:prstGeom prst="line">
            <a:avLst/>
          </a:prstGeom>
          <a:ln w="2286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584448" y="3054096"/>
            <a:ext cx="1572768" cy="914400"/>
          </a:xfrm>
          <a:prstGeom prst="roundRect">
            <a:avLst/>
          </a:prstGeom>
          <a:solidFill>
            <a:srgbClr val="E8F1FD"/>
          </a:solidFill>
          <a:ln w="1524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/>
            <a:r>
              <a:rPr sz="950" b="1">
                <a:solidFill>
                  <a:srgbClr val="1F2937"/>
                </a:solidFill>
              </a:rPr>
              <a:t>Search → candidate</a:t>
            </a:r>
          </a:p>
          <a:p>
            <a:pPr algn="l"/>
            <a:r>
              <a:rPr sz="800" b="0">
                <a:solidFill>
                  <a:srgbClr val="1F2937"/>
                </a:solidFill>
              </a:rPr>
              <a:t>anytime incumbent;
monotone improvement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438144" y="3511296"/>
            <a:ext cx="141732" cy="0"/>
          </a:xfrm>
          <a:prstGeom prst="line">
            <a:avLst/>
          </a:prstGeom>
          <a:ln w="2286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308092" y="3054096"/>
            <a:ext cx="1572768" cy="914400"/>
          </a:xfrm>
          <a:prstGeom prst="roundRect">
            <a:avLst/>
          </a:prstGeom>
          <a:solidFill>
            <a:srgbClr val="FFF6DF"/>
          </a:solidFill>
          <a:ln w="1778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/>
            <a:r>
              <a:rPr sz="950" b="1">
                <a:solidFill>
                  <a:srgbClr val="1F2937"/>
                </a:solidFill>
              </a:rPr>
              <a:t>Validate ONLY
the candidate</a:t>
            </a:r>
          </a:p>
          <a:p>
            <a:pPr algn="l"/>
            <a:r>
              <a:rPr sz="800" b="0">
                <a:solidFill>
                  <a:srgbClr val="1F2937"/>
                </a:solidFill>
              </a:rPr>
              <a:t>lineage 2, lazy: never the
graph — just the answer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161788" y="3511296"/>
            <a:ext cx="141732" cy="0"/>
          </a:xfrm>
          <a:prstGeom prst="line">
            <a:avLst/>
          </a:prstGeom>
          <a:ln w="2286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031736" y="3054096"/>
            <a:ext cx="1572768" cy="914400"/>
          </a:xfrm>
          <a:prstGeom prst="roundRect">
            <a:avLst/>
          </a:prstGeom>
          <a:solidFill>
            <a:srgbClr val="FFF6DF"/>
          </a:solidFill>
          <a:ln w="1778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/>
            <a:r>
              <a:rPr sz="950" b="1">
                <a:solidFill>
                  <a:srgbClr val="1F2937"/>
                </a:solidFill>
              </a:rPr>
              <a:t>Certificate-ball chain
covers the whole path</a:t>
            </a:r>
          </a:p>
          <a:p>
            <a:pPr algn="l"/>
            <a:r>
              <a:rPr sz="800" b="0">
                <a:solidFill>
                  <a:srgbClr val="1F2937"/>
                </a:solidFill>
              </a:rPr>
              <a:t>lineage 1: one distance
query frees a whole ball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885432" y="3511296"/>
            <a:ext cx="141732" cy="0"/>
          </a:xfrm>
          <a:prstGeom prst="line">
            <a:avLst/>
          </a:prstGeom>
          <a:ln w="2286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755380" y="3054096"/>
            <a:ext cx="1572768" cy="914400"/>
          </a:xfrm>
          <a:prstGeom prst="roundRect">
            <a:avLst/>
          </a:prstGeom>
          <a:solidFill>
            <a:srgbClr val="E8F1FD"/>
          </a:solidFill>
          <a:ln w="1524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/>
            <a:r>
              <a:rPr sz="950" b="1">
                <a:solidFill>
                  <a:srgbClr val="1F2937"/>
                </a:solidFill>
              </a:rPr>
              <a:t>SOCP polish →
re-validate</a:t>
            </a:r>
          </a:p>
          <a:p>
            <a:pPr algn="l"/>
            <a:r>
              <a:rPr sz="800" b="0">
                <a:solidFill>
                  <a:srgbClr val="1F2937"/>
                </a:solidFill>
              </a:rPr>
              <a:t>convex optimum in corridor;
polish is an argmin too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609076" y="3511296"/>
            <a:ext cx="141732" cy="0"/>
          </a:xfrm>
          <a:prstGeom prst="line">
            <a:avLst/>
          </a:prstGeom>
          <a:ln w="2286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479024" y="3054096"/>
            <a:ext cx="1572768" cy="914400"/>
          </a:xfrm>
          <a:prstGeom prst="roundRect">
            <a:avLst/>
          </a:prstGeom>
          <a:solidFill>
            <a:srgbClr val="E7F6EE"/>
          </a:solidFill>
          <a:ln w="1524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/>
            <a:r>
              <a:rPr sz="950" b="1">
                <a:solidFill>
                  <a:srgbClr val="065F46"/>
                </a:solidFill>
              </a:rPr>
              <a:t>Certified path + ε-cert
or honest no-path</a:t>
            </a:r>
          </a:p>
          <a:p>
            <a:pPr algn="l"/>
            <a:r>
              <a:rPr sz="800" b="0">
                <a:solidFill>
                  <a:srgbClr val="1F2937"/>
                </a:solidFill>
              </a:rPr>
              <a:t>LB ≤ c* ≤ certified UB;
degrades gracefully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332720" y="3511296"/>
            <a:ext cx="141732" cy="0"/>
          </a:xfrm>
          <a:prstGeom prst="line">
            <a:avLst/>
          </a:prstGeom>
          <a:ln w="2286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737360" y="2578608"/>
            <a:ext cx="0" cy="466344"/>
          </a:xfrm>
          <a:prstGeom prst="line">
            <a:avLst/>
          </a:prstGeom>
          <a:ln w="2032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2926080" y="4206240"/>
            <a:ext cx="4937760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/>
            <a:r>
              <a:rPr sz="950" b="1">
                <a:solidFill>
                  <a:srgbClr val="B91C1C"/>
                </a:solidFill>
              </a:rPr>
              <a:t>dirty segment → in-region repair (convexity keeps via points legal) → unfixable: blacklist the edge</a:t>
            </a:r>
          </a:p>
          <a:p>
            <a:pPr algn="l"/>
            <a:r>
              <a:rPr sz="850" b="0">
                <a:solidFill>
                  <a:srgbClr val="1F2937"/>
                </a:solidFill>
              </a:rPr>
              <a:t>the lazy loop: delete → re-search → re-validate, until certified or honestly infeasible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7406640" y="3968496"/>
            <a:ext cx="411480" cy="237744"/>
          </a:xfrm>
          <a:prstGeom prst="line">
            <a:avLst/>
          </a:prstGeom>
          <a:ln w="20320">
            <a:solidFill>
              <a:srgbClr val="B91C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063240" y="3986783"/>
            <a:ext cx="1005840" cy="219457"/>
          </a:xfrm>
          <a:prstGeom prst="line">
            <a:avLst/>
          </a:prstGeom>
          <a:ln w="20320">
            <a:prstDash val="dash"/>
            <a:solidFill>
              <a:srgbClr val="B91C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137160" y="4864608"/>
            <a:ext cx="5870448" cy="1188720"/>
          </a:xfrm>
          <a:prstGeom prst="roundRect">
            <a:avLst/>
          </a:prstGeom>
          <a:solidFill>
            <a:srgbClr val="FFF6DF"/>
          </a:solidFill>
          <a:ln w="1778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/>
            <a:r>
              <a:rPr sz="900" b="1">
                <a:solidFill>
                  <a:srgbClr val="B45309"/>
                </a:solidFill>
              </a:rPr>
              <a:t>Lineage 2 · lazy collision checking — LazyPRM (Bohlin &amp; Kavraki '00) / LazySP (Dellin &amp; Srinivasa '16)</a:t>
            </a:r>
          </a:p>
          <a:p>
            <a:pPr algn="l"/>
            <a:r>
              <a:rPr sz="950" b="1">
                <a:solidFill>
                  <a:srgbClr val="1F2937"/>
                </a:solidFill>
              </a:rPr>
              <a:t>“Navigate first, repair later — only the roads the route uses.”</a:t>
            </a:r>
          </a:p>
          <a:p>
            <a:pPr algn="l"/>
            <a:r>
              <a:rPr sz="800" b="0">
                <a:solidFill>
                  <a:srgbClr val="1F2937"/>
                </a:solidFill>
              </a:rPr>
              <a:t>Most edges are never used by any shortest path → assume all valid, search, then check only the returned path's edges; delete failures, re-search.</a:t>
            </a:r>
          </a:p>
          <a:p>
            <a:pPr algn="l"/>
            <a:r>
              <a:rPr sz="800" b="0">
                <a:solidFill>
                  <a:srgbClr val="B45309"/>
                </a:solidFill>
              </a:rPr>
              <a:t>Our twist: the skeleton is the IRIS adjacency graph (no PRM to build), and what gets validated is the argmin of convex optimization — the antidote to the amplification law.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81344" y="4864608"/>
            <a:ext cx="5870448" cy="1188720"/>
          </a:xfrm>
          <a:prstGeom prst="roundRect">
            <a:avLst/>
          </a:prstGeom>
          <a:solidFill>
            <a:srgbClr val="FFF6DF"/>
          </a:solidFill>
          <a:ln w="1778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/>
            <a:r>
              <a:rPr sz="900" b="1">
                <a:solidFill>
                  <a:srgbClr val="B45309"/>
                </a:solidFill>
              </a:rPr>
              <a:t>Lineage 1 · safety certificates — Bialkowski/Karaman/Frazzoli (WAFR'12/IJRR'16) → Safe Bubble Cover (ISRR'24)</a:t>
            </a:r>
          </a:p>
          <a:p>
            <a:pPr algn="l"/>
            <a:r>
              <a:rPr sz="950" b="1">
                <a:solidFill>
                  <a:srgbClr val="1F2937"/>
                </a:solidFill>
              </a:rPr>
              <a:t>“One distance query, one ball exempt”: clearance φ(q) ⇒ the ball of radius φ(q)/L is provably safe (L = robot Lipschitz constant).</a:t>
            </a:r>
          </a:p>
          <a:p>
            <a:pPr algn="l"/>
            <a:r>
              <a:rPr sz="800" b="0">
                <a:solidFill>
                  <a:srgbClr val="1F2937"/>
                </a:solidFill>
              </a:rPr>
              <a:t>Overlapping balls chained along the segment = a continuous proof: no resolution parameter, no loophole; long strides in the open, fine steps near obstacles.</a:t>
            </a:r>
          </a:p>
          <a:p>
            <a:pPr algn="l"/>
            <a:r>
              <a:rPr sz="800" b="0">
                <a:solidFill>
                  <a:srgbClr val="B45309"/>
                </a:solidFill>
              </a:rPr>
              <a:t>Measured: ~200 calls × 2.3 ms per path, certificates in 0.02–0.06 s — cheap because the map is 97% clean (the dividend of ①).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37160" y="6163056"/>
            <a:ext cx="11914632" cy="621792"/>
          </a:xfrm>
          <a:prstGeom prst="roundRect">
            <a:avLst/>
          </a:prstGeom>
          <a:solidFill>
            <a:srgbClr val="E7F6EE"/>
          </a:solidFill>
          <a:ln w="1778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50800" bIns="50800"/>
          <a:lstStyle/>
          <a:p>
            <a:pPr algn="l"/>
            <a:r>
              <a:rPr sz="900" b="1">
                <a:solidFill>
                  <a:srgbClr val="065F46"/>
                </a:solidFill>
              </a:rPr>
              <a:t>E16 head-to-head (29 task queries, same library &amp; machine): reference delivers 21/29 invalid (18 probe-confirmed) vs ours 0 invalid (15 certified + 14 honest no-paths) · first certified answer 1.14 s &lt; 1.59 s for the unvalidated one · cost ratio 1.0000 on clean pairs · price of truth only where the reference is wrong: median +14%</a:t>
            </a:r>
          </a:p>
          <a:p>
            <a:pPr algn="l"/>
            <a:r>
              <a:rPr sz="800" b="0">
                <a:solidFill>
                  <a:srgbClr val="1F2937"/>
                </a:solidFill>
              </a:rPr>
              <a:t>All three routes to a stricter library fail (strict gate: 47 regions, 0 portals / C-IRIS: 7 islands / margins: contamination flat, connectivity lost first) — volume-level certainty is unaffordable; the path-level certificate does the necessary thing, the cheap way.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